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WAPOKE"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wapoke_work/pawapoke_introduction/assets/pawapoke_fukyo/cover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46920" y="6245352"/>
            <a:ext cx="2148840" cy="347472"/>
          </a:xfrm>
          <a:prstGeom prst="roundRect">
            <a:avLst/>
          </a:prstGeom>
          <a:solidFill>
            <a:srgbClr val="0C1D48">
              <a:alpha val="96000"/>
            </a:srgbClr>
          </a:solidFill>
          <a:ln w="13970">
            <a:solidFill>
              <a:srgbClr val="88D8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756648" y="6327648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1〜14のネタバレあり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16459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82296" cy="8229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502920"/>
            <a:ext cx="109728" cy="109728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914400"/>
            <a:ext cx="64008" cy="64008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989320"/>
            <a:ext cx="91440" cy="914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355080"/>
            <a:ext cx="54864" cy="54864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5897880"/>
            <a:ext cx="73152" cy="7315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6309360"/>
            <a:ext cx="128016" cy="12801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56032"/>
            <a:ext cx="11430000" cy="713232"/>
          </a:xfrm>
          <a:prstGeom prst="roundRect">
            <a:avLst>
              <a:gd name="adj" fmla="val 7692"/>
            </a:avLst>
          </a:prstGeom>
          <a:solidFill>
            <a:srgbClr val="0C1D48"/>
          </a:solidFill>
          <a:ln w="25400">
            <a:solidFill>
              <a:srgbClr val="88D8F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393192"/>
            <a:ext cx="566928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832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170432" y="37490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34747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そもそもパワポケって何？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645920" y="70408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spc="20" kern="0" dirty="0">
                <a:solidFill>
                  <a:srgbClr val="BBD9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まずは30秒で共通認識を作る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58368" y="133502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1999</a:t>
            </a:r>
            <a:endParaRPr lang="en-US" sz="3100" dirty="0"/>
          </a:p>
        </p:txBody>
      </p:sp>
      <p:sp>
        <p:nvSpPr>
          <p:cNvPr id="17" name="Shape 15"/>
          <p:cNvSpPr/>
          <p:nvPr/>
        </p:nvSpPr>
        <p:spPr>
          <a:xfrm>
            <a:off x="1645920" y="1572768"/>
            <a:ext cx="2514600" cy="0"/>
          </a:xfrm>
          <a:prstGeom prst="line">
            <a:avLst/>
          </a:prstGeom>
          <a:noFill/>
          <a:ln w="33020">
            <a:solidFill>
              <a:srgbClr val="0C1D4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343400" y="133502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2011</a:t>
            </a:r>
            <a:endParaRPr lang="en-US" sz="3100" dirty="0"/>
          </a:p>
        </p:txBody>
      </p:sp>
      <p:sp>
        <p:nvSpPr>
          <p:cNvPr id="19" name="Shape 17"/>
          <p:cNvSpPr/>
          <p:nvPr/>
        </p:nvSpPr>
        <p:spPr>
          <a:xfrm>
            <a:off x="1618488" y="1847088"/>
            <a:ext cx="2999232" cy="310896"/>
          </a:xfrm>
          <a:prstGeom prst="roundRect">
            <a:avLst>
              <a:gd name="adj" fmla="val 35294"/>
            </a:avLst>
          </a:prstGeom>
          <a:solidFill>
            <a:srgbClr val="0C1D48"/>
          </a:solidFill>
          <a:ln w="12700">
            <a:solidFill>
              <a:srgbClr val="0C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1883664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ナンバリング 1 → 14</a:t>
            </a:r>
            <a:endParaRPr lang="en-US" sz="1000" dirty="0"/>
          </a:p>
        </p:txBody>
      </p:sp>
      <p:pic>
        <p:nvPicPr>
          <p:cNvPr id="21" name="Image 0" descr="/mnt/data/pawapoke_work/pawapoke_introduction/assets/pawapoke_fukyo/character.png">    </p:cNvPr>
          <p:cNvPicPr>
            <a:picLocks noChangeAspect="1"/>
          </p:cNvPicPr>
          <p:nvPr/>
        </p:nvPicPr>
        <p:blipFill>
          <a:blip r:embed="rId1"/>
          <a:srcRect l="18699" r="18699" t="0" b="0"/>
          <a:stretch/>
        </p:blipFill>
        <p:spPr>
          <a:xfrm>
            <a:off x="8732520" y="1243584"/>
            <a:ext cx="3063240" cy="48463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869680" y="5349240"/>
            <a:ext cx="2514600" cy="530352"/>
          </a:xfrm>
          <a:prstGeom prst="roundRect">
            <a:avLst/>
          </a:prstGeom>
          <a:solidFill>
            <a:srgbClr val="0C1D48">
              <a:alpha val="98000"/>
            </a:srgbClr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88552" y="5449824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主人公は変わる。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世界だけは続く。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58368" y="2487168"/>
            <a:ext cx="2395728" cy="2423160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17780">
            <a:solidFill>
              <a:srgbClr val="B8DDF4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70000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58368" y="2487168"/>
            <a:ext cx="2395728" cy="109728"/>
          </a:xfrm>
          <a:prstGeom prst="rect">
            <a:avLst/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2960" y="2761488"/>
            <a:ext cx="20665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パワプロ派生の携帯機シリーズ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22960" y="3520440"/>
            <a:ext cx="206654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Game Boy → GBA → DSへ。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「野球選手を作る」が共通の出口。</a:t>
            </a:r>
            <a:endParaRPr lang="en-US" sz="1130" dirty="0"/>
          </a:p>
        </p:txBody>
      </p:sp>
      <p:sp>
        <p:nvSpPr>
          <p:cNvPr id="28" name="Shape 25"/>
          <p:cNvSpPr/>
          <p:nvPr/>
        </p:nvSpPr>
        <p:spPr>
          <a:xfrm>
            <a:off x="3401568" y="2487168"/>
            <a:ext cx="2395728" cy="2423160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17780">
            <a:solidFill>
              <a:srgbClr val="B8DDF4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7000000000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01568" y="2487168"/>
            <a:ext cx="2395728" cy="109728"/>
          </a:xfrm>
          <a:prstGeom prst="rect">
            <a:avLst/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66160" y="2761488"/>
            <a:ext cx="20665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サクセス＝育成＋物語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3566160" y="3520440"/>
            <a:ext cx="206654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練習・試合・仲間・彼女・選択肢。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失敗したら、もう一周。</a:t>
            </a:r>
            <a:endParaRPr lang="en-US" sz="1130" dirty="0"/>
          </a:p>
        </p:txBody>
      </p:sp>
      <p:sp>
        <p:nvSpPr>
          <p:cNvPr id="32" name="Shape 29"/>
          <p:cNvSpPr/>
          <p:nvPr/>
        </p:nvSpPr>
        <p:spPr>
          <a:xfrm>
            <a:off x="6144768" y="2487168"/>
            <a:ext cx="2395728" cy="2423160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17780">
            <a:solidFill>
              <a:srgbClr val="B8DDF4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700000000000000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144768" y="2487168"/>
            <a:ext cx="2395728" cy="109728"/>
          </a:xfrm>
          <a:prstGeom prst="rect">
            <a:avLst/>
          </a:prstGeom>
          <a:solidFill>
            <a:srgbClr val="6C3BCB"/>
          </a:solidFill>
          <a:ln w="12700">
            <a:solidFill>
              <a:srgbClr val="6C3BC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9360" y="2761488"/>
            <a:ext cx="20665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通称「野球バラエティ」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309360" y="3520440"/>
            <a:ext cx="2066544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恋愛 / SF / 企業抗争 / ホラー / RPG…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毎年なにかが足されていく。</a:t>
            </a:r>
            <a:endParaRPr lang="en-US" sz="1130" dirty="0"/>
          </a:p>
        </p:txBody>
      </p:sp>
      <p:sp>
        <p:nvSpPr>
          <p:cNvPr id="36" name="Text 33"/>
          <p:cNvSpPr/>
          <p:nvPr/>
        </p:nvSpPr>
        <p:spPr>
          <a:xfrm>
            <a:off x="658368" y="5212080"/>
            <a:ext cx="7726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「野球選手を作る」という最終目的だけ残して、途中に何を入れていいかの判定がどんどん壊れていった。</a:t>
            </a:r>
            <a:endParaRPr lang="en-US" sz="1620" dirty="0"/>
          </a:p>
        </p:txBody>
      </p:sp>
      <p:sp>
        <p:nvSpPr>
          <p:cNvPr id="37" name="Shape 34"/>
          <p:cNvSpPr/>
          <p:nvPr/>
        </p:nvSpPr>
        <p:spPr>
          <a:xfrm>
            <a:off x="502920" y="6473952"/>
            <a:ext cx="11018520" cy="0"/>
          </a:xfrm>
          <a:prstGeom prst="line">
            <a:avLst/>
          </a:prstGeom>
          <a:noFill/>
          <a:ln w="12700">
            <a:solidFill>
              <a:srgbClr val="B8DDF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30352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身内向け・入門版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16459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82296" cy="8229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502920"/>
            <a:ext cx="109728" cy="109728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914400"/>
            <a:ext cx="64008" cy="64008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989320"/>
            <a:ext cx="91440" cy="914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355080"/>
            <a:ext cx="54864" cy="54864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5897880"/>
            <a:ext cx="73152" cy="7315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6309360"/>
            <a:ext cx="128016" cy="12801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56032"/>
            <a:ext cx="11430000" cy="713232"/>
          </a:xfrm>
          <a:prstGeom prst="roundRect">
            <a:avLst>
              <a:gd name="adj" fmla="val 7692"/>
            </a:avLst>
          </a:prstGeom>
          <a:solidFill>
            <a:srgbClr val="0C1D48"/>
          </a:solidFill>
          <a:ln w="25400">
            <a:solidFill>
              <a:srgbClr val="88D8FF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7e+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393192"/>
            <a:ext cx="566928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832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170432" y="37490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34747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このシリーズ、まず何が変なのか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645920" y="70408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spc="20" kern="0" dirty="0">
                <a:solidFill>
                  <a:srgbClr val="BBD9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「鬱ゲー」だけでは説明不足</a:t>
            </a:r>
            <a:endParaRPr lang="en-US" sz="880" dirty="0"/>
          </a:p>
        </p:txBody>
      </p:sp>
      <p:pic>
        <p:nvPicPr>
          <p:cNvPr id="16" name="Image 0" descr="/mnt/data/pawapoke_work/pawapoke_introduction/assets/pawapoke_fukyo/character.png">    </p:cNvPr>
          <p:cNvPicPr>
            <a:picLocks noChangeAspect="1"/>
          </p:cNvPicPr>
          <p:nvPr/>
        </p:nvPicPr>
        <p:blipFill>
          <a:blip r:embed="rId1"/>
          <a:srcRect l="11298" r="11298" t="0" b="0"/>
          <a:stretch/>
        </p:blipFill>
        <p:spPr>
          <a:xfrm>
            <a:off x="7726680" y="1115568"/>
            <a:ext cx="4251960" cy="54406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76656" y="1298448"/>
            <a:ext cx="6903720" cy="20574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0C1D48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.7e+29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69264" y="1627632"/>
            <a:ext cx="632764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彼女候補を攻略していたら、</a:t>
            </a:r>
            <a:endParaRPr lang="en-US" sz="2450" dirty="0"/>
          </a:p>
          <a:p>
            <a:pPr indent="0" marL="0">
              <a:buNone/>
            </a:pPr>
            <a:r>
              <a:rPr lang="en-US" sz="245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巨大企業の政変と人体改造と</a:t>
            </a:r>
            <a:endParaRPr lang="en-US" sz="2450" dirty="0"/>
          </a:p>
          <a:p>
            <a:pPr indent="0" marL="0">
              <a:buNone/>
            </a:pPr>
            <a:r>
              <a:rPr lang="en-US" sz="245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時間犯罪の話になった。</a:t>
            </a:r>
            <a:endParaRPr lang="en-US" sz="2450" dirty="0"/>
          </a:p>
        </p:txBody>
      </p:sp>
      <p:sp>
        <p:nvSpPr>
          <p:cNvPr id="19" name="Shape 16"/>
          <p:cNvSpPr/>
          <p:nvPr/>
        </p:nvSpPr>
        <p:spPr>
          <a:xfrm>
            <a:off x="7269480" y="1993392"/>
            <a:ext cx="566928" cy="640080"/>
          </a:xfrm>
          <a:prstGeom prst="chevron">
            <a:avLst/>
          </a:prstGeom>
          <a:solidFill>
            <a:srgbClr val="FFFFFF"/>
          </a:solidFill>
          <a:ln w="27940">
            <a:solidFill>
              <a:srgbClr val="0C1D4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-120000">
            <a:off x="822960" y="3584448"/>
            <a:ext cx="1417320" cy="292608"/>
          </a:xfrm>
          <a:prstGeom prst="rect">
            <a:avLst/>
          </a:prstGeom>
          <a:solidFill>
            <a:srgbClr val="FFE13A"/>
          </a:solidFill>
          <a:ln w="12700">
            <a:solidFill>
              <a:srgbClr val="FFE1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7824" y="3621024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さっきまで高校野球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22960" y="40965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0C1D48"/>
          </a:solidFill>
          <a:ln w="12700">
            <a:solidFill>
              <a:srgbClr val="0C1D4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0392" y="41330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野球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810512" y="409651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37944" y="41330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恋愛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98064" y="4096512"/>
            <a:ext cx="1207008" cy="310896"/>
          </a:xfrm>
          <a:prstGeom prst="roundRect">
            <a:avLst>
              <a:gd name="adj" fmla="val 35294"/>
            </a:avLst>
          </a:prstGeom>
          <a:solidFill>
            <a:srgbClr val="6C3BCB"/>
          </a:solidFill>
          <a:ln w="12700">
            <a:solidFill>
              <a:srgbClr val="6C3BC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25496" y="4133088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企業抗争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169664" y="4096512"/>
            <a:ext cx="1353312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97096" y="413308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サイボーグ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687568" y="4096512"/>
            <a:ext cx="1024128" cy="310896"/>
          </a:xfrm>
          <a:prstGeom prst="roundRect">
            <a:avLst>
              <a:gd name="adj" fmla="val 35294"/>
            </a:avLst>
          </a:prstGeom>
          <a:solidFill>
            <a:srgbClr val="38B77A"/>
          </a:solidFill>
          <a:ln w="12700">
            <a:solidFill>
              <a:srgbClr val="38B77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15000" y="413308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超能力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76288" y="4096512"/>
            <a:ext cx="1078992" cy="310896"/>
          </a:xfrm>
          <a:prstGeom prst="roundRect">
            <a:avLst>
              <a:gd name="adj" fmla="val 35294"/>
            </a:avLst>
          </a:prstGeom>
          <a:solidFill>
            <a:srgbClr val="FF6A55"/>
          </a:solidFill>
          <a:ln w="12700">
            <a:solidFill>
              <a:srgbClr val="FF6A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03720" y="41330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時間移動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04672" y="5230368"/>
            <a:ext cx="6629400" cy="713232"/>
          </a:xfrm>
          <a:prstGeom prst="roundRect">
            <a:avLst/>
          </a:prstGeom>
          <a:solidFill>
            <a:srgbClr val="0C1D48"/>
          </a:solidFill>
          <a:ln w="15240">
            <a:solidFill>
              <a:srgbClr val="88D8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24128" y="5431536"/>
            <a:ext cx="6199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「彼女がひどい目に遭う野球ゲーム」だけでは、まだ半分。</a:t>
            </a:r>
            <a:endParaRPr lang="en-US" sz="1720" dirty="0"/>
          </a:p>
        </p:txBody>
      </p:sp>
      <p:sp>
        <p:nvSpPr>
          <p:cNvPr id="36" name="Shape 33"/>
          <p:cNvSpPr/>
          <p:nvPr/>
        </p:nvSpPr>
        <p:spPr>
          <a:xfrm>
            <a:off x="502920" y="6473952"/>
            <a:ext cx="11018520" cy="0"/>
          </a:xfrm>
          <a:prstGeom prst="line">
            <a:avLst/>
          </a:prstGeom>
          <a:noFill/>
          <a:ln w="12700">
            <a:solidFill>
              <a:srgbClr val="B8DDF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入口は「何が起きているの？」でOK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16459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82296" cy="8229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502920"/>
            <a:ext cx="109728" cy="109728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914400"/>
            <a:ext cx="64008" cy="64008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989320"/>
            <a:ext cx="91440" cy="914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355080"/>
            <a:ext cx="54864" cy="54864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5897880"/>
            <a:ext cx="73152" cy="7315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6309360"/>
            <a:ext cx="128016" cy="12801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56032"/>
            <a:ext cx="11430000" cy="713232"/>
          </a:xfrm>
          <a:prstGeom prst="roundRect">
            <a:avLst>
              <a:gd name="adj" fmla="val 7692"/>
            </a:avLst>
          </a:prstGeom>
          <a:solidFill>
            <a:srgbClr val="0C1D48"/>
          </a:solidFill>
          <a:ln w="25400">
            <a:solidFill>
              <a:srgbClr val="88D8FF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.7e+3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393192"/>
            <a:ext cx="566928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832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170432" y="37490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34747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パワポケには「二つの裏」がある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645920" y="70408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spc="20" kern="0" dirty="0">
                <a:solidFill>
                  <a:srgbClr val="BBD9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この2枚看板だけ覚えれば、今日の目的は達成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58368" y="1298448"/>
            <a:ext cx="5285232" cy="4553712"/>
          </a:xfrm>
          <a:prstGeom prst="roundRect">
            <a:avLst>
              <a:gd name="adj" fmla="val 1406"/>
            </a:avLst>
          </a:prstGeom>
          <a:solidFill>
            <a:srgbClr val="F8FCFF"/>
          </a:solidFill>
          <a:ln w="25400">
            <a:solidFill>
              <a:srgbClr val="259BFF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.7e+3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1298448"/>
            <a:ext cx="5285232" cy="4553712"/>
          </a:xfrm>
          <a:prstGeom prst="roundRect">
            <a:avLst>
              <a:gd name="adj" fmla="val 1406"/>
            </a:avLst>
          </a:prstGeom>
          <a:solidFill>
            <a:srgbClr val="FFF9F3"/>
          </a:solidFill>
          <a:ln w="25400">
            <a:solidFill>
              <a:srgbClr val="FF2B25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1.7e+44"/>
              </a:srgbClr>
            </a:outerShdw>
          </a:effectLst>
        </p:spPr>
      </p:sp>
      <p:pic>
        <p:nvPicPr>
          <p:cNvPr id="18" name="Image 0" descr="/mnt/data/pawapoke_work/pawapoke_introduction/assets/pawapoke_fukyo/map.png">    </p:cNvPr>
          <p:cNvPicPr>
            <a:picLocks noChangeAspect="1"/>
          </p:cNvPicPr>
          <p:nvPr/>
        </p:nvPicPr>
        <p:blipFill>
          <a:blip r:embed="rId1"/>
          <a:srcRect l="1967" r="1967" t="0" b="0"/>
          <a:stretch/>
        </p:blipFill>
        <p:spPr>
          <a:xfrm>
            <a:off x="868680" y="1536192"/>
            <a:ext cx="2057400" cy="1170432"/>
          </a:xfrm>
          <a:prstGeom prst="rect">
            <a:avLst/>
          </a:prstGeom>
        </p:spPr>
      </p:pic>
      <p:pic>
        <p:nvPicPr>
          <p:cNvPr id="19" name="Image 1" descr="/mnt/data/pawapoke_work/pawapoke_introduction/assets/pawapoke_fukyo/vortex.png">    </p:cNvPr>
          <p:cNvPicPr>
            <a:picLocks noChangeAspect="1"/>
          </p:cNvPicPr>
          <p:nvPr/>
        </p:nvPicPr>
        <p:blipFill>
          <a:blip r:embed="rId2"/>
          <a:srcRect l="0" r="0" t="17341" b="17341"/>
          <a:stretch/>
        </p:blipFill>
        <p:spPr>
          <a:xfrm>
            <a:off x="9070848" y="1536192"/>
            <a:ext cx="2029968" cy="117043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145536" y="1572768"/>
            <a:ext cx="2148840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172968" y="1609344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物語の「裏」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510528" y="1572768"/>
            <a:ext cx="2240280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37960" y="1609344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ゲームの「裏」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60120" y="2898648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表サクセスの奥に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隠れた連続史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1051560" y="3858768"/>
            <a:ext cx="448056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彼女ルート・周回・追加イベント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組織史 / 技術史 / 世界の危機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556248" y="2898648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文字どおりの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「裏サクセス」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6647688" y="3858768"/>
            <a:ext cx="448056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忍者 / 宇宙 / ハタ人間 / 秘密結社 / 大海原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ほぼ別ジャンルのゲーム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401568" y="5257800"/>
            <a:ext cx="5394960" cy="713232"/>
          </a:xfrm>
          <a:prstGeom prst="roundRect">
            <a:avLst/>
          </a:prstGeom>
          <a:solidFill>
            <a:srgbClr val="0C1D48"/>
          </a:solidFill>
          <a:ln w="20320">
            <a:solidFill>
              <a:srgbClr val="FFE13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75888" y="54681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8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どっちも、野球ゲームの中にある。</a:t>
            </a:r>
            <a:endParaRPr lang="en-US" sz="1780" dirty="0"/>
          </a:p>
        </p:txBody>
      </p:sp>
      <p:sp>
        <p:nvSpPr>
          <p:cNvPr id="30" name="Shape 26"/>
          <p:cNvSpPr/>
          <p:nvPr/>
        </p:nvSpPr>
        <p:spPr>
          <a:xfrm>
            <a:off x="502920" y="6473952"/>
            <a:ext cx="11018520" cy="0"/>
          </a:xfrm>
          <a:prstGeom prst="line">
            <a:avLst/>
          </a:prstGeom>
          <a:noFill/>
          <a:ln w="12700">
            <a:solidFill>
              <a:srgbClr val="B8DDF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30352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片方は「隠された世界史」、片方は「ほとんど別ゲーム」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16459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82296" cy="8229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502920"/>
            <a:ext cx="109728" cy="109728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914400"/>
            <a:ext cx="64008" cy="64008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989320"/>
            <a:ext cx="91440" cy="914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355080"/>
            <a:ext cx="54864" cy="54864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5897880"/>
            <a:ext cx="73152" cy="7315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6309360"/>
            <a:ext cx="128016" cy="12801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56032"/>
            <a:ext cx="11430000" cy="713232"/>
          </a:xfrm>
          <a:prstGeom prst="roundRect">
            <a:avLst>
              <a:gd name="adj" fmla="val 7692"/>
            </a:avLst>
          </a:prstGeom>
          <a:solidFill>
            <a:srgbClr val="0C1D48"/>
          </a:solidFill>
          <a:ln w="25400">
            <a:solidFill>
              <a:srgbClr val="88D8FF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.7e+4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393192"/>
            <a:ext cx="566928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832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170432" y="37490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34747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「8」から隠す。「11」から施錠する。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645920" y="70408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spc="20" kern="0" dirty="0">
                <a:solidFill>
                  <a:srgbClr val="BBD9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後期パワポケの情報設計が、ここで一段変わる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60120" y="3090672"/>
            <a:ext cx="10195560" cy="0"/>
          </a:xfrm>
          <a:prstGeom prst="line">
            <a:avLst/>
          </a:prstGeom>
          <a:noFill/>
          <a:ln w="63500">
            <a:solidFill>
              <a:srgbClr val="0C1D48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2770632"/>
            <a:ext cx="658368" cy="658368"/>
          </a:xfrm>
          <a:prstGeom prst="ellipse">
            <a:avLst/>
          </a:prstGeom>
          <a:solidFill>
            <a:srgbClr val="259BF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1.7e+54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28529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" y="1399032"/>
            <a:ext cx="14813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9050">
            <a:solidFill>
              <a:srgbClr val="259BFF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1.7e+5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" y="1627632"/>
            <a:ext cx="124358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深いルートに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過去作接続を置く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87552" y="3776472"/>
            <a:ext cx="841248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" y="38130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HIDE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80360" y="2770632"/>
            <a:ext cx="658368" cy="658368"/>
          </a:xfrm>
          <a:prstGeom prst="ellipse">
            <a:avLst/>
          </a:prstGeom>
          <a:solidFill>
            <a:srgbClr val="259BF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1.7e+64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80360" y="28529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468880" y="1399032"/>
            <a:ext cx="14813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9050">
            <a:solidFill>
              <a:srgbClr val="259BFF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1.7000000000000001e+69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87752" y="1627632"/>
            <a:ext cx="124358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しあわせ島→親切高校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後期史の発射台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2862072" y="3776472"/>
            <a:ext cx="841248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9504" y="38130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HIDE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73168" y="2770632"/>
            <a:ext cx="658368" cy="658368"/>
          </a:xfrm>
          <a:prstGeom prst="ellipse">
            <a:avLst/>
          </a:prstGeom>
          <a:solidFill>
            <a:srgbClr val="FF2B2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1.7000000000000002e+74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73168" y="28529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361688" y="1399032"/>
            <a:ext cx="14813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9050">
            <a:solidFill>
              <a:srgbClr val="FF2B25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1.7e+79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1627632"/>
            <a:ext cx="124358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追加イベント・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登録選手数などが鍵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941783" y="3703320"/>
            <a:ext cx="269199" cy="286024"/>
          </a:xfrm>
          <a:prstGeom prst="arc">
            <a:avLst/>
          </a:prstGeom>
          <a:solidFill>
            <a:srgbClr val="EAF7FF">
              <a:alpha val="0"/>
            </a:srgbClr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82896" y="3871570"/>
            <a:ext cx="386974" cy="319674"/>
          </a:xfrm>
          <a:prstGeom prst="roundRect">
            <a:avLst>
              <a:gd name="adj" fmla="val 14302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42733" y="3964107"/>
            <a:ext cx="67300" cy="67300"/>
          </a:xfrm>
          <a:prstGeom prst="ellipse">
            <a:avLst/>
          </a:prstGeom>
          <a:solidFill>
            <a:srgbClr val="FFE13A"/>
          </a:solidFill>
          <a:ln w="12700">
            <a:solidFill>
              <a:srgbClr val="FFE1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56832" y="2770632"/>
            <a:ext cx="658368" cy="658368"/>
          </a:xfrm>
          <a:prstGeom prst="ellipse">
            <a:avLst/>
          </a:prstGeom>
          <a:solidFill>
            <a:srgbClr val="FF2B2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1.7000000000000001e+84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56832" y="28529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245352" y="1399032"/>
            <a:ext cx="14813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9050">
            <a:solidFill>
              <a:srgbClr val="FF2B25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1.7e+89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64224" y="1627632"/>
            <a:ext cx="124358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「事件の背景を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知りたい」が解禁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6825447" y="3703320"/>
            <a:ext cx="269199" cy="286024"/>
          </a:xfrm>
          <a:prstGeom prst="arc">
            <a:avLst/>
          </a:prstGeom>
          <a:solidFill>
            <a:srgbClr val="EAF7FF">
              <a:alpha val="0"/>
            </a:srgbClr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3871570"/>
            <a:ext cx="386974" cy="319674"/>
          </a:xfrm>
          <a:prstGeom prst="roundRect">
            <a:avLst>
              <a:gd name="adj" fmla="val 14302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26397" y="3964107"/>
            <a:ext cx="67300" cy="67300"/>
          </a:xfrm>
          <a:prstGeom prst="ellipse">
            <a:avLst/>
          </a:prstGeom>
          <a:solidFill>
            <a:srgbClr val="FFE13A"/>
          </a:solidFill>
          <a:ln w="12700">
            <a:solidFill>
              <a:srgbClr val="FFE1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31352" y="2770632"/>
            <a:ext cx="658368" cy="658368"/>
          </a:xfrm>
          <a:prstGeom prst="ellipse">
            <a:avLst/>
          </a:prstGeom>
          <a:solidFill>
            <a:srgbClr val="FF2B2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1.7e+94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531352" y="28529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119872" y="1399032"/>
            <a:ext cx="14813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9050">
            <a:solidFill>
              <a:srgbClr val="FF2B25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1.7000000000000002e+99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238744" y="1627632"/>
            <a:ext cx="124358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周回・他ルート履歴で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情報が増える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8699967" y="3703320"/>
            <a:ext cx="269199" cy="286024"/>
          </a:xfrm>
          <a:prstGeom prst="arc">
            <a:avLst/>
          </a:prstGeom>
          <a:solidFill>
            <a:srgbClr val="EAF7FF">
              <a:alpha val="0"/>
            </a:srgbClr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41080" y="3871570"/>
            <a:ext cx="386974" cy="319674"/>
          </a:xfrm>
          <a:prstGeom prst="roundRect">
            <a:avLst>
              <a:gd name="adj" fmla="val 14302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0917" y="3964107"/>
            <a:ext cx="67300" cy="67300"/>
          </a:xfrm>
          <a:prstGeom prst="ellipse">
            <a:avLst/>
          </a:prstGeom>
          <a:solidFill>
            <a:srgbClr val="FFE13A"/>
          </a:solidFill>
          <a:ln w="12700">
            <a:solidFill>
              <a:srgbClr val="FFE1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405872" y="2770632"/>
            <a:ext cx="658368" cy="658368"/>
          </a:xfrm>
          <a:prstGeom prst="ellipse">
            <a:avLst/>
          </a:prstGeom>
          <a:solidFill>
            <a:srgbClr val="FF2B2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1.7000000000000002e+104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0405872" y="28529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9994392" y="1399032"/>
            <a:ext cx="148132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9050">
            <a:solidFill>
              <a:srgbClr val="FF2B25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1.7000000000000002e+109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0113264" y="1627632"/>
            <a:ext cx="124358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真ルート / トゥルーに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事前条件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10574487" y="3703320"/>
            <a:ext cx="269199" cy="286024"/>
          </a:xfrm>
          <a:prstGeom prst="arc">
            <a:avLst/>
          </a:prstGeom>
          <a:solidFill>
            <a:srgbClr val="EAF7FF">
              <a:alpha val="0"/>
            </a:srgbClr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15600" y="3871570"/>
            <a:ext cx="386974" cy="319674"/>
          </a:xfrm>
          <a:prstGeom prst="roundRect">
            <a:avLst>
              <a:gd name="adj" fmla="val 14302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675437" y="3964107"/>
            <a:ext cx="67300" cy="67300"/>
          </a:xfrm>
          <a:prstGeom prst="ellipse">
            <a:avLst/>
          </a:prstGeom>
          <a:solidFill>
            <a:srgbClr val="FFE13A"/>
          </a:solidFill>
          <a:ln w="12700">
            <a:solidFill>
              <a:srgbClr val="FFE13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1832" y="4892040"/>
            <a:ext cx="10241280" cy="859536"/>
          </a:xfrm>
          <a:prstGeom prst="roundRect">
            <a:avLst/>
          </a:prstGeom>
          <a:solidFill>
            <a:srgbClr val="0C1D48"/>
          </a:solidFill>
          <a:ln w="17780">
            <a:solidFill>
              <a:srgbClr val="88D8FF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1.7000000000000003e+114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1234440" y="5175504"/>
            <a:ext cx="964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設定が深い、だけではない。　設定を読むこと自体が攻略になっている。</a:t>
            </a:r>
            <a:endParaRPr lang="en-US" sz="1820" dirty="0"/>
          </a:p>
        </p:txBody>
      </p:sp>
      <p:sp>
        <p:nvSpPr>
          <p:cNvPr id="59" name="Shape 57"/>
          <p:cNvSpPr/>
          <p:nvPr/>
        </p:nvSpPr>
        <p:spPr>
          <a:xfrm>
            <a:off x="502920" y="6473952"/>
            <a:ext cx="11018520" cy="0"/>
          </a:xfrm>
          <a:prstGeom prst="line">
            <a:avLst/>
          </a:prstGeom>
          <a:noFill/>
          <a:ln w="12700">
            <a:solidFill>
              <a:srgbClr val="B8DDF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0352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中心コピー：『8』から奥へ隠した。『11』から施錠した。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16459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82296" cy="8229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502920"/>
            <a:ext cx="109728" cy="109728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914400"/>
            <a:ext cx="64008" cy="64008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989320"/>
            <a:ext cx="91440" cy="914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355080"/>
            <a:ext cx="54864" cy="54864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5897880"/>
            <a:ext cx="73152" cy="7315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6309360"/>
            <a:ext cx="128016" cy="12801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56032"/>
            <a:ext cx="11430000" cy="713232"/>
          </a:xfrm>
          <a:prstGeom prst="roundRect">
            <a:avLst>
              <a:gd name="adj" fmla="val 7692"/>
            </a:avLst>
          </a:prstGeom>
          <a:solidFill>
            <a:srgbClr val="0C1D48"/>
          </a:solidFill>
          <a:ln w="25400">
            <a:solidFill>
              <a:srgbClr val="88D8FF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1.7000000000000004e+11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393192"/>
            <a:ext cx="566928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832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170432" y="37490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34747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パワポケ名物：数作飛んで返ってくる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645920" y="70408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spc="20" kern="0" dirty="0">
                <a:solidFill>
                  <a:srgbClr val="BBD9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「昔のイベント」が「歴史」に変わる瞬間</a:t>
            </a:r>
            <a:endParaRPr lang="en-US" sz="880" dirty="0"/>
          </a:p>
        </p:txBody>
      </p:sp>
      <p:pic>
        <p:nvPicPr>
          <p:cNvPr id="16" name="Image 0" descr="/mnt/data/pawapoke_work/pawapoke_introduction/assets/pawapoke_fukyo/map.png">    </p:cNvPr>
          <p:cNvPicPr>
            <a:picLocks noChangeAspect="1"/>
          </p:cNvPicPr>
          <p:nvPr/>
        </p:nvPicPr>
        <p:blipFill>
          <a:blip r:embed="rId1"/>
          <a:srcRect l="862" r="862" t="0" b="0"/>
          <a:stretch/>
        </p:blipFill>
        <p:spPr>
          <a:xfrm>
            <a:off x="9738360" y="1170432"/>
            <a:ext cx="1874520" cy="104241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13232" y="1389888"/>
            <a:ext cx="1056132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7780">
            <a:solidFill>
              <a:srgbClr val="FF2B25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1.7000000000000004e+12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50976" y="1655064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169164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83080" y="159105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寺岡薫</a:t>
            </a:r>
            <a:endParaRPr lang="en-US" sz="1520" dirty="0"/>
          </a:p>
        </p:txBody>
      </p:sp>
      <p:sp>
        <p:nvSpPr>
          <p:cNvPr id="21" name="Shape 18"/>
          <p:cNvSpPr/>
          <p:nvPr/>
        </p:nvSpPr>
        <p:spPr>
          <a:xfrm>
            <a:off x="3977640" y="1828800"/>
            <a:ext cx="1737360" cy="0"/>
          </a:xfrm>
          <a:prstGeom prst="line">
            <a:avLst/>
          </a:prstGeom>
          <a:noFill/>
          <a:ln w="35560">
            <a:solidFill>
              <a:srgbClr val="FF2B25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925312" y="1655064"/>
            <a:ext cx="749808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52744" y="169164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39712" y="159105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デウエス</a:t>
            </a:r>
            <a:endParaRPr lang="en-US" sz="1520" dirty="0"/>
          </a:p>
        </p:txBody>
      </p:sp>
      <p:sp>
        <p:nvSpPr>
          <p:cNvPr id="25" name="Shape 22"/>
          <p:cNvSpPr/>
          <p:nvPr/>
        </p:nvSpPr>
        <p:spPr>
          <a:xfrm>
            <a:off x="8778240" y="1655064"/>
            <a:ext cx="2221992" cy="310896"/>
          </a:xfrm>
          <a:prstGeom prst="roundRect">
            <a:avLst>
              <a:gd name="adj" fmla="val 35294"/>
            </a:avLst>
          </a:prstGeom>
          <a:solidFill>
            <a:srgbClr val="0C1D48"/>
          </a:solidFill>
          <a:ln w="12700">
            <a:solidFill>
              <a:srgbClr val="0C1D4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05672" y="169164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9作品越しの長距離パス</a:t>
            </a:r>
            <a:endParaRPr lang="en-US" sz="970" dirty="0"/>
          </a:p>
        </p:txBody>
      </p:sp>
      <p:sp>
        <p:nvSpPr>
          <p:cNvPr id="27" name="Shape 24"/>
          <p:cNvSpPr/>
          <p:nvPr/>
        </p:nvSpPr>
        <p:spPr>
          <a:xfrm>
            <a:off x="713232" y="2496312"/>
            <a:ext cx="10561320" cy="859536"/>
          </a:xfrm>
          <a:prstGeom prst="roundRect">
            <a:avLst>
              <a:gd name="adj" fmla="val 7447"/>
            </a:avLst>
          </a:prstGeom>
          <a:solidFill>
            <a:srgbClr val="F8FCFF"/>
          </a:solidFill>
          <a:ln w="17780">
            <a:solidFill>
              <a:srgbClr val="259BFF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1.7000000000000004e+129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50976" y="2761488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8408" y="279806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783080" y="26974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しあわせ島</a:t>
            </a:r>
            <a:endParaRPr lang="en-US" sz="1520" dirty="0"/>
          </a:p>
        </p:txBody>
      </p:sp>
      <p:sp>
        <p:nvSpPr>
          <p:cNvPr id="31" name="Shape 28"/>
          <p:cNvSpPr/>
          <p:nvPr/>
        </p:nvSpPr>
        <p:spPr>
          <a:xfrm>
            <a:off x="3977640" y="2935224"/>
            <a:ext cx="1737360" cy="0"/>
          </a:xfrm>
          <a:prstGeom prst="line">
            <a:avLst/>
          </a:prstGeom>
          <a:noFill/>
          <a:ln w="35560">
            <a:solidFill>
              <a:srgbClr val="259BFF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5925312" y="2761488"/>
            <a:ext cx="749808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52744" y="279806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839712" y="26974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親切高校</a:t>
            </a:r>
            <a:endParaRPr lang="en-US" sz="1520" dirty="0"/>
          </a:p>
        </p:txBody>
      </p:sp>
      <p:sp>
        <p:nvSpPr>
          <p:cNvPr id="35" name="Shape 32"/>
          <p:cNvSpPr/>
          <p:nvPr/>
        </p:nvSpPr>
        <p:spPr>
          <a:xfrm>
            <a:off x="8778240" y="2761488"/>
            <a:ext cx="2221992" cy="310896"/>
          </a:xfrm>
          <a:prstGeom prst="roundRect">
            <a:avLst>
              <a:gd name="adj" fmla="val 35294"/>
            </a:avLst>
          </a:prstGeom>
          <a:solidFill>
            <a:srgbClr val="0C1D48"/>
          </a:solidFill>
          <a:ln w="12700">
            <a:solidFill>
              <a:srgbClr val="0C1D4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805672" y="279806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裏の人体実験が表へ戻る</a:t>
            </a:r>
            <a:endParaRPr lang="en-US" sz="970" dirty="0"/>
          </a:p>
        </p:txBody>
      </p:sp>
      <p:sp>
        <p:nvSpPr>
          <p:cNvPr id="37" name="Shape 34"/>
          <p:cNvSpPr/>
          <p:nvPr/>
        </p:nvSpPr>
        <p:spPr>
          <a:xfrm>
            <a:off x="713232" y="3602736"/>
            <a:ext cx="1056132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7780">
            <a:solidFill>
              <a:srgbClr val="6C3BCB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1.7000000000000005e+134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950976" y="3867912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6C3BCB"/>
          </a:solidFill>
          <a:ln w="12700">
            <a:solidFill>
              <a:srgbClr val="6C3BC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78408" y="390448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783080" y="38039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ヒーロー側</a:t>
            </a:r>
            <a:endParaRPr lang="en-US" sz="1520" dirty="0"/>
          </a:p>
        </p:txBody>
      </p:sp>
      <p:sp>
        <p:nvSpPr>
          <p:cNvPr id="41" name="Shape 38"/>
          <p:cNvSpPr/>
          <p:nvPr/>
        </p:nvSpPr>
        <p:spPr>
          <a:xfrm>
            <a:off x="3977640" y="4041648"/>
            <a:ext cx="1737360" cy="0"/>
          </a:xfrm>
          <a:prstGeom prst="line">
            <a:avLst/>
          </a:prstGeom>
          <a:noFill/>
          <a:ln w="35560">
            <a:solidFill>
              <a:srgbClr val="6C3BCB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5925312" y="3867912"/>
            <a:ext cx="749808" cy="310896"/>
          </a:xfrm>
          <a:prstGeom prst="roundRect">
            <a:avLst>
              <a:gd name="adj" fmla="val 35294"/>
            </a:avLst>
          </a:prstGeom>
          <a:solidFill>
            <a:srgbClr val="6C3BCB"/>
          </a:solidFill>
          <a:ln w="12700">
            <a:solidFill>
              <a:srgbClr val="6C3BC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52744" y="39044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839712" y="38039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反対側の視点</a:t>
            </a:r>
            <a:endParaRPr lang="en-US" sz="1520" dirty="0"/>
          </a:p>
        </p:txBody>
      </p:sp>
      <p:sp>
        <p:nvSpPr>
          <p:cNvPr id="45" name="Shape 42"/>
          <p:cNvSpPr/>
          <p:nvPr/>
        </p:nvSpPr>
        <p:spPr>
          <a:xfrm>
            <a:off x="8778240" y="3867912"/>
            <a:ext cx="2221992" cy="310896"/>
          </a:xfrm>
          <a:prstGeom prst="roundRect">
            <a:avLst>
              <a:gd name="adj" fmla="val 35294"/>
            </a:avLst>
          </a:prstGeom>
          <a:solidFill>
            <a:srgbClr val="0C1D48"/>
          </a:solidFill>
          <a:ln w="12700">
            <a:solidFill>
              <a:srgbClr val="0C1D4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805672" y="3904488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同じ対立構造を反転して描く</a:t>
            </a:r>
            <a:endParaRPr lang="en-US" sz="970" dirty="0"/>
          </a:p>
        </p:txBody>
      </p:sp>
      <p:sp>
        <p:nvSpPr>
          <p:cNvPr id="47" name="Shape 44"/>
          <p:cNvSpPr/>
          <p:nvPr/>
        </p:nvSpPr>
        <p:spPr>
          <a:xfrm>
            <a:off x="713232" y="4709160"/>
            <a:ext cx="10561320" cy="859536"/>
          </a:xfrm>
          <a:prstGeom prst="roundRect">
            <a:avLst>
              <a:gd name="adj" fmla="val 7447"/>
            </a:avLst>
          </a:prstGeom>
          <a:solidFill>
            <a:srgbClr val="F8FCFF"/>
          </a:solidFill>
          <a:ln w="17780">
            <a:solidFill>
              <a:srgbClr val="38B77A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1.7000000000000004e+139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50976" y="4974336"/>
            <a:ext cx="658368" cy="310896"/>
          </a:xfrm>
          <a:prstGeom prst="roundRect">
            <a:avLst>
              <a:gd name="adj" fmla="val 35294"/>
            </a:avLst>
          </a:prstGeom>
          <a:solidFill>
            <a:srgbClr val="38B77A"/>
          </a:solidFill>
          <a:ln w="12700">
            <a:solidFill>
              <a:srgbClr val="38B77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78408" y="501091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 表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1783080" y="49103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トゥルー</a:t>
            </a:r>
            <a:endParaRPr lang="en-US" sz="1520" dirty="0"/>
          </a:p>
        </p:txBody>
      </p:sp>
      <p:sp>
        <p:nvSpPr>
          <p:cNvPr id="51" name="Shape 48"/>
          <p:cNvSpPr/>
          <p:nvPr/>
        </p:nvSpPr>
        <p:spPr>
          <a:xfrm>
            <a:off x="3977640" y="5148072"/>
            <a:ext cx="1737360" cy="0"/>
          </a:xfrm>
          <a:prstGeom prst="line">
            <a:avLst/>
          </a:prstGeom>
          <a:noFill/>
          <a:ln w="35560">
            <a:solidFill>
              <a:srgbClr val="38B77A"/>
            </a:solidFill>
            <a:prstDash val="solid"/>
            <a:headEnd type="none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5925312" y="4974336"/>
            <a:ext cx="749808" cy="310896"/>
          </a:xfrm>
          <a:prstGeom prst="roundRect">
            <a:avLst>
              <a:gd name="adj" fmla="val 35294"/>
            </a:avLst>
          </a:prstGeom>
          <a:solidFill>
            <a:srgbClr val="38B77A"/>
          </a:solidFill>
          <a:ln w="12700">
            <a:solidFill>
              <a:srgbClr val="38B77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952744" y="501091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 裏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839712" y="491032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「ジオット」</a:t>
            </a:r>
            <a:endParaRPr lang="en-US" sz="1520" dirty="0"/>
          </a:p>
        </p:txBody>
      </p:sp>
      <p:sp>
        <p:nvSpPr>
          <p:cNvPr id="55" name="Shape 52"/>
          <p:cNvSpPr/>
          <p:nvPr/>
        </p:nvSpPr>
        <p:spPr>
          <a:xfrm>
            <a:off x="8778240" y="4974336"/>
            <a:ext cx="2221992" cy="310896"/>
          </a:xfrm>
          <a:prstGeom prst="roundRect">
            <a:avLst>
              <a:gd name="adj" fmla="val 35294"/>
            </a:avLst>
          </a:prstGeom>
          <a:solidFill>
            <a:srgbClr val="0C1D48"/>
          </a:solidFill>
          <a:ln w="12700">
            <a:solidFill>
              <a:srgbClr val="0C1D4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805672" y="5010912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表の履歴が裏イベントの鍵</a:t>
            </a:r>
            <a:endParaRPr lang="en-US" sz="970" dirty="0"/>
          </a:p>
        </p:txBody>
      </p:sp>
      <p:sp>
        <p:nvSpPr>
          <p:cNvPr id="57" name="Text 54"/>
          <p:cNvSpPr/>
          <p:nvPr/>
        </p:nvSpPr>
        <p:spPr>
          <a:xfrm>
            <a:off x="932688" y="5742432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こういう線を一本見つけると、急に「過去作」ではなく「世界史」になる。</a:t>
            </a:r>
            <a:endParaRPr lang="en-US" sz="1640" dirty="0"/>
          </a:p>
        </p:txBody>
      </p:sp>
      <p:sp>
        <p:nvSpPr>
          <p:cNvPr id="58" name="Shape 55"/>
          <p:cNvSpPr/>
          <p:nvPr/>
        </p:nvSpPr>
        <p:spPr>
          <a:xfrm>
            <a:off x="502920" y="6473952"/>
            <a:ext cx="11018520" cy="0"/>
          </a:xfrm>
          <a:prstGeom prst="line">
            <a:avLst/>
          </a:prstGeom>
          <a:noFill/>
          <a:ln w="12700">
            <a:solidFill>
              <a:srgbClr val="B8DDF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30352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7→9は構造的接続を強く言える一方、「9主人公＝レッド」は断定しない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16459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82296" cy="8229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502920"/>
            <a:ext cx="109728" cy="109728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914400"/>
            <a:ext cx="64008" cy="64008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989320"/>
            <a:ext cx="91440" cy="914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355080"/>
            <a:ext cx="54864" cy="54864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5897880"/>
            <a:ext cx="73152" cy="7315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6309360"/>
            <a:ext cx="128016" cy="12801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56032"/>
            <a:ext cx="11430000" cy="713232"/>
          </a:xfrm>
          <a:prstGeom prst="roundRect">
            <a:avLst>
              <a:gd name="adj" fmla="val 7692"/>
            </a:avLst>
          </a:prstGeom>
          <a:solidFill>
            <a:srgbClr val="0C1D48"/>
          </a:solidFill>
          <a:ln w="25400">
            <a:solidFill>
              <a:srgbClr val="88D8FF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1.7000000000000003e+14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393192"/>
            <a:ext cx="566928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832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170432" y="37490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34747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彼女候補は「世界史を見る窓」になる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645920" y="70408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spc="20" kern="0" dirty="0">
                <a:solidFill>
                  <a:srgbClr val="BBD9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後期では、恋愛ルートが本筋の収納場所になることがある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13232" y="1353312"/>
            <a:ext cx="2487168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00000">
                <a:alpha val="1.7000000000000004e+14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1481328"/>
            <a:ext cx="530352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15179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 → 11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7824" y="1536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神条紫杏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877824" y="2066544"/>
            <a:ext cx="215798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高校の彼女候補から、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巨大組織の合併・再編史へ。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3520440" y="1353312"/>
            <a:ext cx="2487168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25400">
            <a:solidFill>
              <a:srgbClr val="6C3BCB"/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00000">
                <a:alpha val="1.7000000000000005e+154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76088" y="1481328"/>
            <a:ext cx="530352" cy="310896"/>
          </a:xfrm>
          <a:prstGeom prst="roundRect">
            <a:avLst>
              <a:gd name="adj" fmla="val 35294"/>
            </a:avLst>
          </a:prstGeom>
          <a:solidFill>
            <a:srgbClr val="6C3BCB"/>
          </a:solidFill>
          <a:ln w="12700">
            <a:solidFill>
              <a:srgbClr val="6C3B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51790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85032" y="1536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パカーディ・ハイネン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3685032" y="2066544"/>
            <a:ext cx="215798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有名な結末だけでなく、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復讐・カエサリオン・ジオットへ。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13232" y="3310128"/>
            <a:ext cx="2487168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25400">
            <a:solidFill>
              <a:srgbClr val="259BFF"/>
            </a:solidFill>
            <a:prstDash val="solid"/>
          </a:ln>
          <a:effectLst>
            <a:outerShdw sx="100000" sy="100000" kx="0" ky="0" algn="bl" rotWithShape="0" blurRad="4.195165188570166e+131" dist="2.097582594285083e+131" dir="3.581397499475881e+154">
              <a:srgbClr val="000000">
                <a:alpha val="1.7000000000000005e+15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68880" y="3438144"/>
            <a:ext cx="530352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96312" y="347472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7824" y="34930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木村冴花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877824" y="4023360"/>
            <a:ext cx="215798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彼女ルート＋周回履歴で、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黒幕側の事情が増えていく。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3520440" y="3310128"/>
            <a:ext cx="2487168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25400">
            <a:solidFill>
              <a:srgbClr val="38B77A"/>
            </a:solidFill>
            <a:prstDash val="solid"/>
          </a:ln>
          <a:effectLst>
            <a:outerShdw sx="100000" sy="100000" kx="0" ky="0" algn="bl" rotWithShape="0" blurRad="5.327859789484111e+135" dist="2.6639298947420556e+135" dir="2.1488384996855287e+159">
              <a:srgbClr val="000000">
                <a:alpha val="1.7000000000000006e+164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276088" y="3438144"/>
            <a:ext cx="530352" cy="310896"/>
          </a:xfrm>
          <a:prstGeom prst="roundRect">
            <a:avLst>
              <a:gd name="adj" fmla="val 35294"/>
            </a:avLst>
          </a:prstGeom>
          <a:solidFill>
            <a:srgbClr val="38B77A"/>
          </a:solidFill>
          <a:ln w="12700">
            <a:solidFill>
              <a:srgbClr val="38B7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47472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85032" y="34930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天月紗矢香</a:t>
            </a:r>
            <a:endParaRPr lang="en-US" sz="1520" dirty="0"/>
          </a:p>
        </p:txBody>
      </p:sp>
      <p:sp>
        <p:nvSpPr>
          <p:cNvPr id="35" name="Text 33"/>
          <p:cNvSpPr/>
          <p:nvPr/>
        </p:nvSpPr>
        <p:spPr>
          <a:xfrm>
            <a:off x="3685032" y="4023360"/>
            <a:ext cx="2157984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事前クリアとトゥルーの先で、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カタストロフへ到達。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6446520" y="1481328"/>
            <a:ext cx="4736592" cy="3602736"/>
          </a:xfrm>
          <a:prstGeom prst="roundRect">
            <a:avLst>
              <a:gd name="adj" fmla="val 1777"/>
            </a:avLst>
          </a:prstGeom>
          <a:solidFill>
            <a:srgbClr val="0C1D48"/>
          </a:solidFill>
          <a:ln w="20320">
            <a:solidFill>
              <a:srgbClr val="88D8FF"/>
            </a:solidFill>
            <a:prstDash val="solid"/>
          </a:ln>
          <a:effectLst>
            <a:outerShdw sx="100000" sy="100000" kx="0" ky="0" algn="bl" rotWithShape="0" blurRad="6.766381932644821e+139" dist="3.3831909663224106e+139" dir="1.2893030998113172e+164">
              <a:srgbClr val="000000">
                <a:alpha val="1.7000000000000005e+169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84848" y="1810512"/>
            <a:ext cx="4041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「彼女ルート」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＝ 恋愛サブイベント？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458200" y="26334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↓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040880" y="30358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ときどき逆。</a:t>
            </a:r>
            <a:endParaRPr lang="en-US" sz="2300" dirty="0"/>
          </a:p>
        </p:txBody>
      </p:sp>
      <p:sp>
        <p:nvSpPr>
          <p:cNvPr id="40" name="Text 38"/>
          <p:cNvSpPr/>
          <p:nvPr/>
        </p:nvSpPr>
        <p:spPr>
          <a:xfrm>
            <a:off x="6876288" y="3703320"/>
            <a:ext cx="38770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本筋を表から見えなくするための</a:t>
            </a:r>
            <a:endParaRPr lang="en-US" sz="1720" dirty="0"/>
          </a:p>
          <a:p>
            <a:pPr algn="ctr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「収納場所」になっている。</a:t>
            </a:r>
            <a:endParaRPr lang="en-US" sz="1720" dirty="0"/>
          </a:p>
        </p:txBody>
      </p:sp>
      <p:sp>
        <p:nvSpPr>
          <p:cNvPr id="41" name="Shape 39"/>
          <p:cNvSpPr/>
          <p:nvPr/>
        </p:nvSpPr>
        <p:spPr>
          <a:xfrm rot="-90000">
            <a:off x="6967728" y="5248656"/>
            <a:ext cx="3767328" cy="566928"/>
          </a:xfrm>
          <a:prstGeom prst="roundRect">
            <a:avLst/>
          </a:prstGeom>
          <a:solidFill>
            <a:srgbClr val="FFE13A"/>
          </a:solidFill>
          <a:ln w="16510">
            <a:solidFill>
              <a:srgbClr val="0C1D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5431536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好きなキャラを追う → 世界の続きが気になる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" y="6473952"/>
            <a:ext cx="11018520" cy="0"/>
          </a:xfrm>
          <a:prstGeom prst="line">
            <a:avLst/>
          </a:prstGeom>
          <a:noFill/>
          <a:ln w="12700">
            <a:solidFill>
              <a:srgbClr val="B8DD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個人的には紫杏・野崎維織が特に好き（※維織はこのスライドの構造説明枠とは別）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16459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82296" cy="8229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502920"/>
            <a:ext cx="109728" cy="109728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914400"/>
            <a:ext cx="64008" cy="64008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989320"/>
            <a:ext cx="91440" cy="914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355080"/>
            <a:ext cx="54864" cy="54864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5897880"/>
            <a:ext cx="73152" cy="7315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6309360"/>
            <a:ext cx="128016" cy="12801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56032"/>
            <a:ext cx="11430000" cy="713232"/>
          </a:xfrm>
          <a:prstGeom prst="roundRect">
            <a:avLst>
              <a:gd name="adj" fmla="val 7692"/>
            </a:avLst>
          </a:prstGeom>
          <a:solidFill>
            <a:srgbClr val="0C1D48"/>
          </a:solidFill>
          <a:ln w="25400">
            <a:solidFill>
              <a:srgbClr val="88D8FF"/>
            </a:solidFill>
            <a:prstDash val="solid"/>
          </a:ln>
          <a:effectLst>
            <a:outerShdw sx="100000" sy="100000" kx="0" ky="0" algn="bl" rotWithShape="0" blurRad="8.593305054458923e+143" dist="4.296652527229462e+143" dir="7.735818598867904e+168">
              <a:srgbClr val="000000">
                <a:alpha val="1.7000000000000005e+17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393192"/>
            <a:ext cx="566928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832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170432" y="37490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34747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もう一つの裏：裏サクセスは、ほぼ別ゲーム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645920" y="70408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spc="20" kern="0" dirty="0">
                <a:solidFill>
                  <a:srgbClr val="BBD9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「野球選手を作るおまけ」の説明が途中から苦しくなる</a:t>
            </a:r>
            <a:endParaRPr lang="en-US" sz="880" dirty="0"/>
          </a:p>
        </p:txBody>
      </p:sp>
      <p:pic>
        <p:nvPicPr>
          <p:cNvPr id="16" name="Image 0" descr="/mnt/data/pawapoke_work/pawapoke_introduction/assets/pawapoke_fukyo/field.png">    </p:cNvPr>
          <p:cNvPicPr>
            <a:picLocks noChangeAspect="1"/>
          </p:cNvPicPr>
          <p:nvPr/>
        </p:nvPicPr>
        <p:blipFill>
          <a:blip r:embed="rId1"/>
          <a:srcRect l="0" r="0" t="13220" b="13220"/>
          <a:stretch/>
        </p:blipFill>
        <p:spPr>
          <a:xfrm>
            <a:off x="0" y="4937760"/>
            <a:ext cx="12191695" cy="19202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0C1D48">
              <a:alpha val="40000"/>
            </a:srgbClr>
          </a:solidFill>
          <a:ln w="12700">
            <a:solidFill>
              <a:srgbClr val="0C1D48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1371600"/>
            <a:ext cx="23957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9050">
            <a:solidFill>
              <a:srgbClr val="259BFF"/>
            </a:solidFill>
            <a:prstDash val="solid"/>
          </a:ln>
          <a:effectLst>
            <a:outerShdw sx="100000" sy="100000" kx="0" ky="0" algn="bl" rotWithShape="0" blurRad="1.0913497419162833e+148" dist="5.4567487095814166e+147" dir="4.6414911593207425e+173">
              <a:srgbClr val="000000">
                <a:alpha val="1.7000000000000006e+179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2104" y="1508760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9536" y="154533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444752" y="15179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戦争編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850392" y="206654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戦時下で生存</a:t>
            </a:r>
            <a:endParaRPr lang="en-US" sz="1070" dirty="0"/>
          </a:p>
        </p:txBody>
      </p:sp>
      <p:sp>
        <p:nvSpPr>
          <p:cNvPr id="23" name="Shape 20"/>
          <p:cNvSpPr/>
          <p:nvPr/>
        </p:nvSpPr>
        <p:spPr>
          <a:xfrm>
            <a:off x="3483864" y="1371600"/>
            <a:ext cx="23957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9050">
            <a:solidFill>
              <a:srgbClr val="259BFF"/>
            </a:solidFill>
            <a:prstDash val="solid"/>
          </a:ln>
          <a:effectLst>
            <a:outerShdw sx="100000" sy="100000" kx="0" ky="0" algn="bl" rotWithShape="0" blurRad="1.38601417223368e+152" dist="6.9300708611684e+151" dir="2.7848946955924455e+178">
              <a:srgbClr val="000000">
                <a:alpha val="1.7000000000000005e+184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30168" y="1508760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0" y="154533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242816" y="15179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忍者戦国編</a:t>
            </a:r>
            <a:endParaRPr lang="en-US" sz="1360" dirty="0"/>
          </a:p>
        </p:txBody>
      </p:sp>
      <p:sp>
        <p:nvSpPr>
          <p:cNvPr id="27" name="Text 24"/>
          <p:cNvSpPr/>
          <p:nvPr/>
        </p:nvSpPr>
        <p:spPr>
          <a:xfrm>
            <a:off x="3648456" y="206654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国取りSLG</a:t>
            </a:r>
            <a:endParaRPr lang="en-US" sz="1070" dirty="0"/>
          </a:p>
        </p:txBody>
      </p:sp>
      <p:sp>
        <p:nvSpPr>
          <p:cNvPr id="28" name="Shape 25"/>
          <p:cNvSpPr/>
          <p:nvPr/>
        </p:nvSpPr>
        <p:spPr>
          <a:xfrm>
            <a:off x="6281928" y="1371600"/>
            <a:ext cx="23957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9050">
            <a:solidFill>
              <a:srgbClr val="259BFF"/>
            </a:solidFill>
            <a:prstDash val="solid"/>
          </a:ln>
          <a:effectLst>
            <a:outerShdw sx="100000" sy="100000" kx="0" ky="0" algn="bl" rotWithShape="0" blurRad="1.7602379987367734e+156" dist="8.801189993683867e+155" dir="1.6709368173554673e+183">
              <a:srgbClr val="000000">
                <a:alpha val="1.7000000000000004e+189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428232" y="1508760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55664" y="154533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040880" y="15179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大正冒険奇譚</a:t>
            </a:r>
            <a:endParaRPr lang="en-US" sz="1360" dirty="0"/>
          </a:p>
        </p:txBody>
      </p:sp>
      <p:sp>
        <p:nvSpPr>
          <p:cNvPr id="32" name="Text 29"/>
          <p:cNvSpPr/>
          <p:nvPr/>
        </p:nvSpPr>
        <p:spPr>
          <a:xfrm>
            <a:off x="6446520" y="206654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クエスト冒険</a:t>
            </a:r>
            <a:endParaRPr lang="en-US" sz="1070" dirty="0"/>
          </a:p>
        </p:txBody>
      </p:sp>
      <p:sp>
        <p:nvSpPr>
          <p:cNvPr id="33" name="Shape 30"/>
          <p:cNvSpPr/>
          <p:nvPr/>
        </p:nvSpPr>
        <p:spPr>
          <a:xfrm>
            <a:off x="9079992" y="1371600"/>
            <a:ext cx="23957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9050">
            <a:solidFill>
              <a:srgbClr val="259BFF"/>
            </a:solidFill>
            <a:prstDash val="solid"/>
          </a:ln>
          <a:effectLst>
            <a:outerShdw sx="100000" sy="100000" kx="0" ky="0" algn="bl" rotWithShape="0" blurRad="2.235502258395702e+160" dist="1.117751129197851e+160" dir="1.0025620904132804e+188">
              <a:srgbClr val="000000">
                <a:alpha val="1.7000000000000004e+194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226296" y="1508760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53728" y="154533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9838944" y="15179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宇宙編</a:t>
            </a:r>
            <a:endParaRPr lang="en-US" sz="1360" dirty="0"/>
          </a:p>
        </p:txBody>
      </p:sp>
      <p:sp>
        <p:nvSpPr>
          <p:cNvPr id="37" name="Text 34"/>
          <p:cNvSpPr/>
          <p:nvPr/>
        </p:nvSpPr>
        <p:spPr>
          <a:xfrm>
            <a:off x="9244584" y="206654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冒険・交易RPG</a:t>
            </a:r>
            <a:endParaRPr lang="en-US" sz="1070" dirty="0"/>
          </a:p>
        </p:txBody>
      </p:sp>
      <p:sp>
        <p:nvSpPr>
          <p:cNvPr id="38" name="Shape 35"/>
          <p:cNvSpPr/>
          <p:nvPr/>
        </p:nvSpPr>
        <p:spPr>
          <a:xfrm>
            <a:off x="685800" y="3035808"/>
            <a:ext cx="23957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9050">
            <a:solidFill>
              <a:srgbClr val="FF2B25"/>
            </a:solidFill>
            <a:prstDash val="solid"/>
          </a:ln>
          <a:effectLst>
            <a:outerShdw sx="100000" sy="100000" kx="0" ky="0" algn="bl" rotWithShape="0" blurRad="2.8390878681625417e+164" dist="1.4195439340812709e+164" dir="6.015372542479682e+192">
              <a:srgbClr val="000000">
                <a:alpha val="1.7000000000000004e+199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32104" y="3172968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9536" y="3209544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444752" y="31821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ハタ人間</a:t>
            </a:r>
            <a:endParaRPr lang="en-US" sz="1360" dirty="0"/>
          </a:p>
        </p:txBody>
      </p:sp>
      <p:sp>
        <p:nvSpPr>
          <p:cNvPr id="42" name="Text 39"/>
          <p:cNvSpPr/>
          <p:nvPr/>
        </p:nvSpPr>
        <p:spPr>
          <a:xfrm>
            <a:off x="850392" y="373075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サバイバルRPG</a:t>
            </a:r>
            <a:endParaRPr lang="en-US" sz="1070" dirty="0"/>
          </a:p>
        </p:txBody>
      </p:sp>
      <p:sp>
        <p:nvSpPr>
          <p:cNvPr id="43" name="Shape 40"/>
          <p:cNvSpPr/>
          <p:nvPr/>
        </p:nvSpPr>
        <p:spPr>
          <a:xfrm>
            <a:off x="3483864" y="3035808"/>
            <a:ext cx="23957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9050">
            <a:solidFill>
              <a:srgbClr val="FF2B25"/>
            </a:solidFill>
            <a:prstDash val="solid"/>
          </a:ln>
          <a:effectLst>
            <a:outerShdw sx="100000" sy="100000" kx="0" ky="0" algn="bl" rotWithShape="0" blurRad="3.605641592566428e+168" dist="1.802820796283214e+168" dir="3.6092235254878095e+197">
              <a:srgbClr val="000000">
                <a:alpha val="1.7000000000000003e+204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630168" y="3172968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0" y="3209544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242816" y="31821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秘密結社</a:t>
            </a:r>
            <a:endParaRPr lang="en-US" sz="1360" dirty="0"/>
          </a:p>
        </p:txBody>
      </p:sp>
      <p:sp>
        <p:nvSpPr>
          <p:cNvPr id="47" name="Text 44"/>
          <p:cNvSpPr/>
          <p:nvPr/>
        </p:nvSpPr>
        <p:spPr>
          <a:xfrm>
            <a:off x="3648456" y="373075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探索・戦闘RPG</a:t>
            </a:r>
            <a:endParaRPr lang="en-US" sz="1070" dirty="0"/>
          </a:p>
        </p:txBody>
      </p:sp>
      <p:sp>
        <p:nvSpPr>
          <p:cNvPr id="48" name="Shape 45"/>
          <p:cNvSpPr/>
          <p:nvPr/>
        </p:nvSpPr>
        <p:spPr>
          <a:xfrm>
            <a:off x="6281928" y="3035808"/>
            <a:ext cx="23957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9050">
            <a:solidFill>
              <a:srgbClr val="FF2B25"/>
            </a:solidFill>
            <a:prstDash val="solid"/>
          </a:ln>
          <a:effectLst>
            <a:outerShdw sx="100000" sy="100000" kx="0" ky="0" algn="bl" rotWithShape="0" blurRad="4.579164822559364e+172" dist="2.289582411279682e+172" dir="2.1655341152926858e+202">
              <a:srgbClr val="000000">
                <a:alpha val="1.7000000000000002e+209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428232" y="3172968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455664" y="3209544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040880" y="31821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海洋冒険</a:t>
            </a:r>
            <a:endParaRPr lang="en-US" sz="1360" dirty="0"/>
          </a:p>
        </p:txBody>
      </p:sp>
      <p:sp>
        <p:nvSpPr>
          <p:cNvPr id="52" name="Text 49"/>
          <p:cNvSpPr/>
          <p:nvPr/>
        </p:nvSpPr>
        <p:spPr>
          <a:xfrm>
            <a:off x="6446520" y="373075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航海・海戦</a:t>
            </a:r>
            <a:endParaRPr lang="en-US" sz="1070" dirty="0"/>
          </a:p>
        </p:txBody>
      </p:sp>
      <p:sp>
        <p:nvSpPr>
          <p:cNvPr id="53" name="Shape 50"/>
          <p:cNvSpPr/>
          <p:nvPr/>
        </p:nvSpPr>
        <p:spPr>
          <a:xfrm>
            <a:off x="9079992" y="3035808"/>
            <a:ext cx="23957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9050">
            <a:solidFill>
              <a:srgbClr val="FF2B25"/>
            </a:solidFill>
            <a:prstDash val="solid"/>
          </a:ln>
          <a:effectLst>
            <a:outerShdw sx="100000" sy="100000" kx="0" ky="0" algn="bl" rotWithShape="0" blurRad="5.815539324650392e+176" dist="2.907769662325196e+176" dir="1.2993204691756116e+207">
              <a:srgbClr val="000000">
                <a:alpha val="1.7000000000000001e+214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9226296" y="3172968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253728" y="3209544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9838944" y="31821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札侍</a:t>
            </a:r>
            <a:endParaRPr lang="en-US" sz="1360" dirty="0"/>
          </a:p>
        </p:txBody>
      </p:sp>
      <p:sp>
        <p:nvSpPr>
          <p:cNvPr id="57" name="Text 54"/>
          <p:cNvSpPr/>
          <p:nvPr/>
        </p:nvSpPr>
        <p:spPr>
          <a:xfrm>
            <a:off x="9244584" y="373075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カードバトル</a:t>
            </a:r>
            <a:endParaRPr lang="en-US" sz="1070" dirty="0"/>
          </a:p>
        </p:txBody>
      </p:sp>
      <p:sp>
        <p:nvSpPr>
          <p:cNvPr id="58" name="Shape 55"/>
          <p:cNvSpPr/>
          <p:nvPr/>
        </p:nvSpPr>
        <p:spPr>
          <a:xfrm>
            <a:off x="1920240" y="5230368"/>
            <a:ext cx="8366760" cy="713232"/>
          </a:xfrm>
          <a:prstGeom prst="roundRect">
            <a:avLst/>
          </a:prstGeom>
          <a:solidFill>
            <a:srgbClr val="0C1D48">
              <a:alpha val="96000"/>
            </a:srgbClr>
          </a:solidFill>
          <a:ln w="16510">
            <a:solidFill>
              <a:srgbClr val="FFE13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240280" y="5440680"/>
            <a:ext cx="7726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「……野球は？」　→　最後に選手ができるので、野球です。たぶん。</a:t>
            </a:r>
            <a:endParaRPr lang="en-US" sz="1700" dirty="0"/>
          </a:p>
        </p:txBody>
      </p:sp>
      <p:sp>
        <p:nvSpPr>
          <p:cNvPr id="60" name="Shape 57"/>
          <p:cNvSpPr/>
          <p:nvPr/>
        </p:nvSpPr>
        <p:spPr>
          <a:xfrm>
            <a:off x="502920" y="6473952"/>
            <a:ext cx="11018520" cy="0"/>
          </a:xfrm>
          <a:prstGeom prst="line">
            <a:avLst/>
          </a:prstGeom>
          <a:noFill/>
          <a:ln w="12700">
            <a:solidFill>
              <a:srgbClr val="B8DDF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30352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野球が帰る場所としてあったから、裏は忍者にも宇宙にも海にも行けた。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16459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82296" cy="8229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502920"/>
            <a:ext cx="109728" cy="109728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914400"/>
            <a:ext cx="64008" cy="64008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989320"/>
            <a:ext cx="91440" cy="914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355080"/>
            <a:ext cx="54864" cy="54864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5897880"/>
            <a:ext cx="73152" cy="7315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6309360"/>
            <a:ext cx="128016" cy="12801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56032"/>
            <a:ext cx="11430000" cy="713232"/>
          </a:xfrm>
          <a:prstGeom prst="roundRect">
            <a:avLst>
              <a:gd name="adj" fmla="val 7692"/>
            </a:avLst>
          </a:prstGeom>
          <a:solidFill>
            <a:srgbClr val="0C1D48"/>
          </a:solidFill>
          <a:ln w="25400">
            <a:solidFill>
              <a:srgbClr val="88D8FF"/>
            </a:solidFill>
            <a:prstDash val="solid"/>
          </a:ln>
          <a:effectLst>
            <a:outerShdw sx="100000" sy="100000" kx="0" ky="0" algn="bl" rotWithShape="0" blurRad="7.385734942305998e+180" dist="3.692867471152999e+180" dir="7.795922815053669e+211">
              <a:srgbClr val="000000">
                <a:alpha val="1.7e+21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393192"/>
            <a:ext cx="566928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832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170432" y="37490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34747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特に好きな5本で見る「進化」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645920" y="70408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spc="20" kern="0" dirty="0">
                <a:solidFill>
                  <a:srgbClr val="BBD9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→ 7 → 11 → 12 → 13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85800" y="4251960"/>
            <a:ext cx="18745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259BFF"/>
            </a:solidFill>
            <a:prstDash val="solid"/>
          </a:ln>
          <a:effectLst>
            <a:outerShdw sx="100000" sy="100000" kx="0" ky="0" algn="bl" rotWithShape="0" blurRad="9.379883376728618e+184" dist="4.689941688364309e+184" dir="4.677553689032201e+216">
              <a:srgbClr val="000000">
                <a:alpha val="1.7e+22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" y="4370832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407408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99032" y="43891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忍者戦国編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832104" y="4864608"/>
            <a:ext cx="1581912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国取り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2560320" y="4869180"/>
            <a:ext cx="27432" cy="-502920"/>
          </a:xfrm>
          <a:prstGeom prst="line">
            <a:avLst/>
          </a:prstGeom>
          <a:noFill/>
          <a:ln w="27940">
            <a:solidFill>
              <a:srgbClr val="0C1D4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697480" y="365760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259BFF"/>
            </a:solidFill>
            <a:prstDash val="solid"/>
          </a:ln>
          <a:effectLst>
            <a:outerShdw sx="100000" sy="100000" kx="0" ky="0" algn="bl" rotWithShape="0" blurRad="1.1912451888445345e+189" dist="5.956225944222673e+188" dir="2.806532213419321e+221">
              <a:srgbClr val="000000">
                <a:alpha val="1.7e+22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25496" y="3776472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2928" y="3813048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10712" y="37947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大正冒険奇譚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2843784" y="4270248"/>
            <a:ext cx="158191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依頼を拾う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クエスト型冒険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4572000" y="4366260"/>
            <a:ext cx="27432" cy="-594360"/>
          </a:xfrm>
          <a:prstGeom prst="line">
            <a:avLst/>
          </a:prstGeom>
          <a:noFill/>
          <a:ln w="27940">
            <a:solidFill>
              <a:srgbClr val="0C1D4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709160" y="2971800"/>
            <a:ext cx="187452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  <a:effectLst>
            <a:outerShdw sx="100000" sy="100000" kx="0" ky="0" algn="bl" rotWithShape="0" blurRad="1.5128813898325588e+193" dist="7.564406949162794e+192" dir="1.6839193280515925e+226">
              <a:srgbClr val="000000">
                <a:alpha val="1.7e+23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37176" y="3090672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127248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22392" y="31089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怪奇！ハタ人間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4855464" y="3584448"/>
            <a:ext cx="1581912" cy="8412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探索・装備・仲間編成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サバイバルRPG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583680" y="3771900"/>
            <a:ext cx="27432" cy="-681228"/>
          </a:xfrm>
          <a:prstGeom prst="line">
            <a:avLst/>
          </a:prstGeom>
          <a:noFill/>
          <a:ln w="27940">
            <a:solidFill>
              <a:srgbClr val="0C1D4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720840" y="2212848"/>
            <a:ext cx="1874520" cy="1755648"/>
          </a:xfrm>
          <a:prstGeom prst="roundRect">
            <a:avLst>
              <a:gd name="adj" fmla="val 3646"/>
            </a:avLst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  <a:effectLst>
            <a:outerShdw sx="100000" sy="100000" kx="0" ky="0" algn="bl" rotWithShape="0" blurRad="1.9213593650873497e+197" dist="9.606796825436748e+196" dir="1.0103515968309554e+231">
              <a:srgbClr val="000000">
                <a:alpha val="1.7e+23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48856" y="2331720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6288" y="236829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34072" y="23500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秘密結社編</a:t>
            </a:r>
            <a:endParaRPr lang="en-US" sz="1280" dirty="0"/>
          </a:p>
        </p:txBody>
      </p:sp>
      <p:sp>
        <p:nvSpPr>
          <p:cNvPr id="38" name="Text 36"/>
          <p:cNvSpPr/>
          <p:nvPr/>
        </p:nvSpPr>
        <p:spPr>
          <a:xfrm>
            <a:off x="6867144" y="2825496"/>
            <a:ext cx="1581912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11の戦闘 ＋ 7の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クエスト構造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8595360" y="3090672"/>
            <a:ext cx="27432" cy="-717804"/>
          </a:xfrm>
          <a:prstGeom prst="line">
            <a:avLst/>
          </a:prstGeom>
          <a:noFill/>
          <a:ln w="27940">
            <a:solidFill>
              <a:srgbClr val="0C1D4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732520" y="1389888"/>
            <a:ext cx="24231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  <a:effectLst>
            <a:outerShdw sx="100000" sy="100000" kx="0" ky="0" algn="bl" rotWithShape="0" blurRad="2.440126393660934e+201" dist="1.220063196830467e+201" dir="6.062109580985733e+235">
              <a:srgbClr val="000000">
                <a:alpha val="1.7e+244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860536" y="1508760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87968" y="1545336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445752" y="1527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海洋冒険編</a:t>
            </a:r>
            <a:endParaRPr lang="en-US" sz="1280" dirty="0"/>
          </a:p>
        </p:txBody>
      </p:sp>
      <p:sp>
        <p:nvSpPr>
          <p:cNvPr id="44" name="Text 42"/>
          <p:cNvSpPr/>
          <p:nvPr/>
        </p:nvSpPr>
        <p:spPr>
          <a:xfrm>
            <a:off x="8878824" y="2002536"/>
            <a:ext cx="2130552" cy="1207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航海・交易・海戦へ拡張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裏サクセスの集大成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4617720" y="4892040"/>
            <a:ext cx="1920240" cy="310896"/>
          </a:xfrm>
          <a:prstGeom prst="roundRect">
            <a:avLst>
              <a:gd name="adj" fmla="val 35294"/>
            </a:avLst>
          </a:prstGeom>
          <a:solidFill>
            <a:srgbClr val="0C1D48"/>
          </a:solidFill>
          <a:ln w="12700">
            <a:solidFill>
              <a:srgbClr val="0C1D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492861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キャラ面で特に好き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20840" y="4727448"/>
            <a:ext cx="2286000" cy="310896"/>
          </a:xfrm>
          <a:prstGeom prst="roundRect">
            <a:avLst>
              <a:gd name="adj" fmla="val 35294"/>
            </a:avLst>
          </a:prstGeom>
          <a:solidFill>
            <a:srgbClr val="0C1D48"/>
          </a:solidFill>
          <a:ln w="12700">
            <a:solidFill>
              <a:srgbClr val="0C1D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48272" y="476402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シナリオ・システム面で特に好き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 rot="-120000">
            <a:off x="9180576" y="4187952"/>
            <a:ext cx="2121408" cy="804672"/>
          </a:xfrm>
          <a:prstGeom prst="roundRect">
            <a:avLst/>
          </a:prstGeom>
          <a:solidFill>
            <a:srgbClr val="FFE13A"/>
          </a:solidFill>
          <a:ln w="17780">
            <a:solidFill>
              <a:srgbClr val="0C1D48"/>
            </a:solidFill>
            <a:prstDash val="solid"/>
          </a:ln>
          <a:effectLst>
            <a:outerShdw sx="100000" sy="100000" kx="0" ky="0" algn="bl" rotWithShape="0" blurRad="3.0989605199493864e+205" dist="1.5494802599746932e+205" dir="3.63726574859144e+240">
              <a:srgbClr val="000000">
                <a:alpha val="1.7e+249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336024" y="437083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「あ、これパワポケだった。」</a:t>
            </a:r>
            <a:endParaRPr lang="en-US" sz="1170" dirty="0"/>
          </a:p>
          <a:p>
            <a:pPr algn="ctr" indent="0" marL="0">
              <a:buNone/>
            </a:pPr>
            <a:r>
              <a:rPr lang="en-US" sz="117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と我に返るやつ。</a:t>
            </a:r>
            <a:endParaRPr lang="en-US" sz="1170" dirty="0"/>
          </a:p>
        </p:txBody>
      </p:sp>
      <p:sp>
        <p:nvSpPr>
          <p:cNvPr id="51" name="Shape 49"/>
          <p:cNvSpPr/>
          <p:nvPr/>
        </p:nvSpPr>
        <p:spPr>
          <a:xfrm>
            <a:off x="502920" y="6473952"/>
            <a:ext cx="11018520" cy="0"/>
          </a:xfrm>
          <a:prstGeom prst="line">
            <a:avLst/>
          </a:prstGeom>
          <a:noFill/>
          <a:ln w="12700">
            <a:solidFill>
              <a:srgbClr val="B8DD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裏サクセスだけでも、一本のゲームデザイン進化史として見られる。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16459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82296" cy="8229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502920"/>
            <a:ext cx="109728" cy="109728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914400"/>
            <a:ext cx="64008" cy="64008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989320"/>
            <a:ext cx="91440" cy="914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355080"/>
            <a:ext cx="54864" cy="54864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5897880"/>
            <a:ext cx="73152" cy="7315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6309360"/>
            <a:ext cx="128016" cy="12801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56032"/>
            <a:ext cx="11430000" cy="713232"/>
          </a:xfrm>
          <a:prstGeom prst="roundRect">
            <a:avLst>
              <a:gd name="adj" fmla="val 7692"/>
            </a:avLst>
          </a:prstGeom>
          <a:solidFill>
            <a:srgbClr val="0C1D48"/>
          </a:solidFill>
          <a:ln w="25400">
            <a:solidFill>
              <a:srgbClr val="88D8FF"/>
            </a:solidFill>
            <a:prstDash val="solid"/>
          </a:ln>
          <a:effectLst>
            <a:outerShdw sx="100000" sy="100000" kx="0" ky="0" algn="bl" rotWithShape="0" blurRad="3.9356798603357206e+209" dist="1.9678399301678603e+209" dir="2.182359449154864e+245">
              <a:srgbClr val="000000">
                <a:alpha val="1.7e+25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393192"/>
            <a:ext cx="566928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832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170432" y="37490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34747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一本だけ勧めるなら、私は「13」を選ぶ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645920" y="70408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spc="20" kern="0" dirty="0">
                <a:solidFill>
                  <a:srgbClr val="BBD9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シリーズ物を13から勧めるのか？ → その通り。でも強い。</a:t>
            </a:r>
            <a:endParaRPr lang="en-US" sz="880" dirty="0"/>
          </a:p>
        </p:txBody>
      </p:sp>
      <p:pic>
        <p:nvPicPr>
          <p:cNvPr id="16" name="Image 0" descr="/mnt/data/pawapoke_work/pawapoke_introduction/assets/pawapoke_fukyo/map.png">    </p:cNvPr>
          <p:cNvPicPr>
            <a:picLocks noChangeAspect="1"/>
          </p:cNvPicPr>
          <p:nvPr/>
        </p:nvPicPr>
        <p:blipFill>
          <a:blip r:embed="rId1"/>
          <a:srcRect l="4093" r="4093" t="0" b="0"/>
          <a:stretch/>
        </p:blipFill>
        <p:spPr>
          <a:xfrm>
            <a:off x="713232" y="1417320"/>
            <a:ext cx="3840480" cy="2286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 rot="-72000">
            <a:off x="713232" y="1417320"/>
            <a:ext cx="3840480" cy="2286000"/>
          </a:xfrm>
          <a:prstGeom prst="roundRect">
            <a:avLst/>
          </a:prstGeom>
          <a:solidFill>
            <a:srgbClr val="FFFFFF">
              <a:alpha val="0"/>
            </a:srgbClr>
          </a:solidFill>
          <a:ln w="76200">
            <a:solidFill>
              <a:srgbClr val="FFFFFF"/>
            </a:solidFill>
            <a:prstDash val="solid"/>
          </a:ln>
          <a:effectLst>
            <a:outerShdw sx="100000" sy="100000" kx="0" ky="0" algn="bl" rotWithShape="0" blurRad="4.9983134226263654e+213" dist="2.4991567113131827e+213" dir="1.3094156694929184e+250">
              <a:srgbClr val="000000">
                <a:alpha val="1.7e+259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96112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  <a:endParaRPr lang="en-US" sz="6000" dirty="0"/>
          </a:p>
        </p:txBody>
      </p:sp>
      <p:sp>
        <p:nvSpPr>
          <p:cNvPr id="19" name="Text 16"/>
          <p:cNvSpPr/>
          <p:nvPr/>
        </p:nvSpPr>
        <p:spPr>
          <a:xfrm>
            <a:off x="1993392" y="3730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最高傑作と呼べる一本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892040" y="1417320"/>
            <a:ext cx="608076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9050">
            <a:solidFill>
              <a:srgbClr val="259BFF"/>
            </a:solidFill>
            <a:prstDash val="solid"/>
          </a:ln>
          <a:effectLst>
            <a:outerShdw sx="100000" sy="100000" kx="0" ky="0" algn="bl" rotWithShape="0" blurRad="6.347858046735484e+217" dist="3.173929023367742e+217" dir="7.85649401695751e+254">
              <a:srgbClr val="000000">
                <a:alpha val="1.7e+264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102352" y="1764792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29784" y="1801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16752" y="15727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逆襲球児編</a:t>
            </a:r>
            <a:endParaRPr lang="en-US" sz="1560" dirty="0"/>
          </a:p>
        </p:txBody>
      </p:sp>
      <p:sp>
        <p:nvSpPr>
          <p:cNvPr id="24" name="Text 21"/>
          <p:cNvSpPr/>
          <p:nvPr/>
        </p:nvSpPr>
        <p:spPr>
          <a:xfrm>
            <a:off x="8119872" y="1563624"/>
            <a:ext cx="25603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王道の高校野球。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一度落ちた主人公が、仲間と上がり直す。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92040" y="2761488"/>
            <a:ext cx="608076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9050">
            <a:solidFill>
              <a:srgbClr val="FF2B25"/>
            </a:solidFill>
            <a:prstDash val="solid"/>
          </a:ln>
          <a:effectLst>
            <a:outerShdw sx="100000" sy="100000" kx="0" ky="0" algn="bl" rotWithShape="0" blurRad="8.061779719354066e+221" dist="4.030889859677033e+221" dir="4.713896410174506e+259">
              <a:srgbClr val="000000">
                <a:alpha val="1.7e+269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102352" y="3108960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29784" y="31455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裏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016752" y="291693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海洋冒険編</a:t>
            </a:r>
            <a:endParaRPr lang="en-US" sz="1560" dirty="0"/>
          </a:p>
        </p:txBody>
      </p:sp>
      <p:sp>
        <p:nvSpPr>
          <p:cNvPr id="29" name="Text 26"/>
          <p:cNvSpPr/>
          <p:nvPr/>
        </p:nvSpPr>
        <p:spPr>
          <a:xfrm>
            <a:off x="8119872" y="2907792"/>
            <a:ext cx="25603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航海・交易・海戦。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11〜12で積み上げたRPG要素の集大成。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92040" y="4105656"/>
            <a:ext cx="608076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9050">
            <a:solidFill>
              <a:srgbClr val="6C3BCB"/>
            </a:solidFill>
            <a:prstDash val="solid"/>
          </a:ln>
          <a:effectLst>
            <a:outerShdw sx="100000" sy="100000" kx="0" ky="0" algn="bl" rotWithShape="0" blurRad="1.0238460243579663e+226" dist="5.1192301217898315e+225" dir="2.8283378461047036e+264">
              <a:srgbClr val="000000">
                <a:alpha val="1.7000000000000002e+274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102352" y="4453128"/>
            <a:ext cx="713232" cy="310896"/>
          </a:xfrm>
          <a:prstGeom prst="roundRect">
            <a:avLst>
              <a:gd name="adj" fmla="val 35294"/>
            </a:avLst>
          </a:prstGeom>
          <a:solidFill>
            <a:srgbClr val="6C3BCB"/>
          </a:solidFill>
          <a:ln w="12700">
            <a:solidFill>
              <a:srgbClr val="6C3BC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29784" y="44897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深部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016752" y="42611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6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周回で世界史が増える</a:t>
            </a:r>
            <a:endParaRPr lang="en-US" sz="1560" dirty="0"/>
          </a:p>
        </p:txBody>
      </p:sp>
      <p:sp>
        <p:nvSpPr>
          <p:cNvPr id="34" name="Text 31"/>
          <p:cNvSpPr/>
          <p:nvPr/>
        </p:nvSpPr>
        <p:spPr>
          <a:xfrm>
            <a:off x="8119872" y="4251960"/>
            <a:ext cx="25603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彼女ルート・アルバム・過去の履歴で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黒幕側の情報が深くなる。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14400" y="4773168"/>
            <a:ext cx="3456432" cy="932688"/>
          </a:xfrm>
          <a:prstGeom prst="roundRect">
            <a:avLst/>
          </a:prstGeom>
          <a:solidFill>
            <a:srgbClr val="0C1D48"/>
          </a:solidFill>
          <a:ln w="19050">
            <a:solidFill>
              <a:srgbClr val="FFE13A"/>
            </a:solidFill>
            <a:prstDash val="solid"/>
          </a:ln>
          <a:effectLst>
            <a:outerShdw sx="100000" sy="100000" kx="0" ky="0" algn="bl" rotWithShape="0" blurRad="1.3002844509346172e+230" dist="6.501422254673086e+229" dir="1.6970027076628222e+269">
              <a:srgbClr val="000000">
                <a:alpha val="1.7000000000000002e+279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1170432" y="5010912"/>
            <a:ext cx="2944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初めてアルバムを</a:t>
            </a:r>
            <a:endParaRPr lang="en-US" sz="1520" dirty="0"/>
          </a:p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フルコンプリートした作品。</a:t>
            </a:r>
            <a:endParaRPr lang="en-US" sz="1520" dirty="0"/>
          </a:p>
        </p:txBody>
      </p:sp>
      <p:sp>
        <p:nvSpPr>
          <p:cNvPr id="37" name="Shape 34"/>
          <p:cNvSpPr/>
          <p:nvPr/>
        </p:nvSpPr>
        <p:spPr>
          <a:xfrm>
            <a:off x="502920" y="6473952"/>
            <a:ext cx="11018520" cy="0"/>
          </a:xfrm>
          <a:prstGeom prst="line">
            <a:avLst/>
          </a:prstGeom>
          <a:noFill/>
          <a:ln w="12700">
            <a:solidFill>
              <a:srgbClr val="B8DDF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30352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一般的な根拠：表・裏とも完成度が高く、開発側も裏を集大成的と振り返っている。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64592" cy="16459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82296" cy="8229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502920"/>
            <a:ext cx="109728" cy="109728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04320" y="914400"/>
            <a:ext cx="64008" cy="64008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989320"/>
            <a:ext cx="91440" cy="91440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355080"/>
            <a:ext cx="54864" cy="54864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0" y="5897880"/>
            <a:ext cx="73152" cy="73152"/>
          </a:xfrm>
          <a:prstGeom prst="ellipse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6309360"/>
            <a:ext cx="128016" cy="128016"/>
          </a:xfrm>
          <a:prstGeom prst="ellipse">
            <a:avLst/>
          </a:prstGeom>
          <a:solidFill>
            <a:srgbClr val="88D8FF">
              <a:alpha val="45000"/>
            </a:srgbClr>
          </a:solidFill>
          <a:ln w="12700">
            <a:solidFill>
              <a:srgbClr val="88D8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56032"/>
            <a:ext cx="11430000" cy="713232"/>
          </a:xfrm>
          <a:prstGeom prst="roundRect">
            <a:avLst>
              <a:gd name="adj" fmla="val 7692"/>
            </a:avLst>
          </a:prstGeom>
          <a:solidFill>
            <a:srgbClr val="0C1D48"/>
          </a:solidFill>
          <a:ln w="25400">
            <a:solidFill>
              <a:srgbClr val="88D8FF"/>
            </a:solidFill>
            <a:prstDash val="solid"/>
          </a:ln>
          <a:effectLst>
            <a:outerShdw sx="100000" sy="100000" kx="0" ky="0" algn="bl" rotWithShape="0" blurRad="1.6513612526869638e+234" dist="8.256806263434819e+233" dir="1.0182016245976934e+274">
              <a:srgbClr val="000000">
                <a:alpha val="1.7e+28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393192"/>
            <a:ext cx="566928" cy="43891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832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170432" y="37490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347472"/>
            <a:ext cx="8915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初見なら、どこから入る？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645920" y="704088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spc="20" kern="0" dirty="0">
                <a:solidFill>
                  <a:srgbClr val="BBD9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全部理解してから遊ぶ必要はない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13232" y="1490472"/>
            <a:ext cx="2898648" cy="3337560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25400">
            <a:solidFill>
              <a:srgbClr val="FF2B25"/>
            </a:solidFill>
            <a:prstDash val="solid"/>
          </a:ln>
          <a:effectLst>
            <a:outerShdw sx="100000" sy="100000" kx="0" ky="0" algn="bl" rotWithShape="0" blurRad="2.097228790912444e+238" dist="1.048614395456222e+238" dir="6.10920974758616e+278">
              <a:srgbClr val="000000">
                <a:alpha val="1.7000000000000001e+28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976" y="1737360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1773936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まず1本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941832" y="2267712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13から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1005840" y="3182112"/>
            <a:ext cx="230428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1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表は王道高校野球。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裏は大航海RPG。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「パワポケって何？」を一作で浴びる。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1737360" y="431596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2B2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★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050792" y="1490472"/>
            <a:ext cx="2898648" cy="3337560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25400">
            <a:solidFill>
              <a:srgbClr val="259BFF"/>
            </a:solidFill>
            <a:prstDash val="solid"/>
          </a:ln>
          <a:effectLst>
            <a:outerShdw sx="100000" sy="100000" kx="0" ky="0" algn="bl" rotWithShape="0" blurRad="2.663480564458804e+242" dist="1.331740282229402e+242" dir="3.6655258485516963e+283">
              <a:srgbClr val="000000">
                <a:alpha val="1.7e+29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88536" y="1737360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259BFF"/>
          </a:solidFill>
          <a:ln w="12700">
            <a:solidFill>
              <a:srgbClr val="259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1773936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歴史を追う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4279392" y="2267712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→ 14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4343400" y="3182112"/>
            <a:ext cx="230428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1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古い作品から順に。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主人公は変わるのに、世界が歳を取る感覚が一番分かる。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5074920" y="431596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9B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388352" y="1490472"/>
            <a:ext cx="2898648" cy="3337560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25400">
            <a:solidFill>
              <a:srgbClr val="6C3BCB"/>
            </a:solidFill>
            <a:prstDash val="solid"/>
          </a:ln>
          <a:effectLst>
            <a:outerShdw sx="100000" sy="100000" kx="0" ky="0" algn="bl" rotWithShape="0" blurRad="3.3826203168626813e+246" dist="1.6913101584313407e+246" dir="2.1993155091310177e+288">
              <a:srgbClr val="000000">
                <a:alpha val="1.7e+299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26096" y="1737360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6C3BCB"/>
          </a:solidFill>
          <a:ln w="12700">
            <a:solidFill>
              <a:srgbClr val="6C3B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1773936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RPG好き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7616952" y="2267712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11裏 → 12裏 → 13裏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7680960" y="3182112"/>
            <a:ext cx="230428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1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探索・装備・仲間編成から、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クエスト融合、航海・海戦へ。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裏サクセスの進化だけ追う。</a:t>
            </a:r>
            <a:endParaRPr lang="en-US" sz="1210" dirty="0"/>
          </a:p>
        </p:txBody>
      </p:sp>
      <p:sp>
        <p:nvSpPr>
          <p:cNvPr id="33" name="Text 31"/>
          <p:cNvSpPr/>
          <p:nvPr/>
        </p:nvSpPr>
        <p:spPr>
          <a:xfrm>
            <a:off x="8412480" y="431596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3BC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⚔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371600" y="5230368"/>
            <a:ext cx="9436608" cy="749808"/>
          </a:xfrm>
          <a:prstGeom prst="roundRect">
            <a:avLst/>
          </a:prstGeom>
          <a:solidFill>
            <a:srgbClr val="0C1D48"/>
          </a:solidFill>
          <a:ln w="17780">
            <a:solidFill>
              <a:srgbClr val="88D8FF"/>
            </a:solidFill>
            <a:prstDash val="solid"/>
          </a:ln>
          <a:effectLst>
            <a:outerShdw sx="100000" sy="100000" kx="0" ky="0" algn="bl" rotWithShape="0" blurRad="4.295927802415605e+250" dist="2.1479639012078026e+250" dir="1.3195893054786106e+293">
              <a:srgbClr val="000000">
                <a:alpha val="1.7e+304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719072" y="5477256"/>
            <a:ext cx="8741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正解ルートはない。「なんだこれ？」が出たら、もう入口には立っている。</a:t>
            </a:r>
            <a:endParaRPr lang="en-US" sz="1760" dirty="0"/>
          </a:p>
        </p:txBody>
      </p:sp>
      <p:sp>
        <p:nvSpPr>
          <p:cNvPr id="36" name="Shape 34"/>
          <p:cNvSpPr/>
          <p:nvPr/>
        </p:nvSpPr>
        <p:spPr>
          <a:xfrm>
            <a:off x="502920" y="6473952"/>
            <a:ext cx="11018520" cy="0"/>
          </a:xfrm>
          <a:prstGeom prst="line">
            <a:avLst/>
          </a:prstGeom>
          <a:noFill/>
          <a:ln w="12700">
            <a:solidFill>
              <a:srgbClr val="B8DD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651967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C8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手元にある作品から始めても大丈夫。分からない固有名詞は、あとから戻ればいい。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wapoke_work/pawapoke_introduction/assets/pawapoke_fukyo/character.png">    </p:cNvPr>
          <p:cNvPicPr>
            <a:picLocks noChangeAspect="1"/>
          </p:cNvPicPr>
          <p:nvPr/>
        </p:nvPicPr>
        <p:blipFill>
          <a:blip r:embed="rId1"/>
          <a:srcRect l="0" r="0" t="21603" b="2160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48">
              <a:alpha val="70000"/>
            </a:srgbClr>
          </a:solidFill>
          <a:ln w="12700">
            <a:solidFill>
              <a:srgbClr val="0C1D4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" y="640080"/>
            <a:ext cx="6693408" cy="3822192"/>
          </a:xfrm>
          <a:prstGeom prst="roundRect">
            <a:avLst/>
          </a:prstGeom>
          <a:solidFill>
            <a:srgbClr val="FFFFFF">
              <a:alpha val="94000"/>
            </a:srgbClr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.455828309067819e+254" dist="2.7279141545339093e+254" dir="7.917535832871664e+297">
              <a:srgbClr val="000000">
                <a:alpha val="Infinity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42416" y="1069848"/>
            <a:ext cx="5943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その認識、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半分は正しい。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0C1D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半分がとんでもなく足りない。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1060704" y="3383280"/>
            <a:ext cx="589788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「彼女がひどい目に遭う野球ゲーム」は入口にすぎない。</a:t>
            </a:r>
            <a:endParaRPr lang="en-US" sz="1520" dirty="0"/>
          </a:p>
          <a:p>
            <a:pPr indent="0" marL="0">
              <a:buNone/>
            </a:pPr>
            <a:r>
              <a:rPr lang="en-US" sz="1520" b="1" dirty="0">
                <a:solidFill>
                  <a:srgbClr val="10224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奥には、世界史と、もう一本のゲームが埋まっている。</a:t>
            </a:r>
            <a:endParaRPr lang="en-US" sz="1520" dirty="0"/>
          </a:p>
        </p:txBody>
      </p:sp>
      <p:sp>
        <p:nvSpPr>
          <p:cNvPr id="7" name="Shape 4"/>
          <p:cNvSpPr/>
          <p:nvPr/>
        </p:nvSpPr>
        <p:spPr>
          <a:xfrm>
            <a:off x="822960" y="4992624"/>
            <a:ext cx="6236208" cy="859536"/>
          </a:xfrm>
          <a:prstGeom prst="roundRect">
            <a:avLst/>
          </a:prstGeom>
          <a:solidFill>
            <a:srgbClr val="0C1D48">
              <a:alpha val="97000"/>
            </a:srgbClr>
          </a:solidFill>
          <a:ln w="20320">
            <a:solidFill>
              <a:srgbClr val="FFE1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5266944"/>
            <a:ext cx="5687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30" b="1" dirty="0">
                <a:solidFill>
                  <a:srgbClr val="FFE1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彼女のバッドエンド集だけ見て帰らないで。</a:t>
            </a:r>
            <a:endParaRPr lang="en-US" sz="1730" dirty="0"/>
          </a:p>
        </p:txBody>
      </p:sp>
      <p:sp>
        <p:nvSpPr>
          <p:cNvPr id="9" name="Shape 6"/>
          <p:cNvSpPr/>
          <p:nvPr/>
        </p:nvSpPr>
        <p:spPr>
          <a:xfrm>
            <a:off x="10168128" y="6016752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F2B25"/>
          </a:solidFill>
          <a:ln w="12700">
            <a:solidFill>
              <a:srgbClr val="FF2B2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195560" y="605332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FINISH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39912" y="612648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身内向け・入門版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10896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A7892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YU-ZORA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パワポケ布教スライド — 身内向け・入門版</dc:title>
  <dc:subject>身内向け・入門版 パワポケ布教スライド</dc:subject>
  <dc:creator>YU-ZORA / ChatGPT</dc:creator>
  <cp:lastModifiedBy>YU-ZORA / ChatGPT</cp:lastModifiedBy>
  <cp:revision>1</cp:revision>
  <dcterms:created xsi:type="dcterms:W3CDTF">2026-09-05T18:54:57Z</dcterms:created>
  <dcterms:modified xsi:type="dcterms:W3CDTF">2026-09-05T18:54:57Z</dcterms:modified>
</cp:coreProperties>
</file>